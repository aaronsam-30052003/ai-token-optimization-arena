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580" y="369540"/>
            <a:ext cx="31951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73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DEVELOPER LEARNING DECK</a:t>
            </a:r>
            <a:endParaRPr lang="en-US" sz="1080" dirty="0"/>
          </a:p>
        </p:txBody>
      </p:sp>
      <p:sp>
        <p:nvSpPr>
          <p:cNvPr id="5" name="Text 1"/>
          <p:cNvSpPr/>
          <p:nvPr/>
        </p:nvSpPr>
        <p:spPr>
          <a:xfrm>
            <a:off x="548580" y="1078185"/>
            <a:ext cx="5324936" cy="738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60" b="1" spc="-112" kern="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</a:t>
            </a:r>
            <a:endParaRPr lang="en-US" sz="4460" dirty="0"/>
          </a:p>
        </p:txBody>
      </p:sp>
      <p:sp>
        <p:nvSpPr>
          <p:cNvPr id="6" name="Text 2"/>
          <p:cNvSpPr/>
          <p:nvPr/>
        </p:nvSpPr>
        <p:spPr>
          <a:xfrm>
            <a:off x="548580" y="1611064"/>
            <a:ext cx="3768514" cy="738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60" b="1" spc="-112" kern="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Developers</a:t>
            </a:r>
            <a:endParaRPr lang="en-US" sz="4460" dirty="0"/>
          </a:p>
        </p:txBody>
      </p:sp>
      <p:sp>
        <p:nvSpPr>
          <p:cNvPr id="7" name="Text 3"/>
          <p:cNvSpPr/>
          <p:nvPr/>
        </p:nvSpPr>
        <p:spPr>
          <a:xfrm>
            <a:off x="548580" y="2505902"/>
            <a:ext cx="7164028" cy="53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620" dirty="0">
                <a:solidFill>
                  <a:srgbClr val="E1E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AI tools turn text into tokens—and how to control cost,</a:t>
            </a:r>
            <a:endParaRPr lang="en-US" sz="1620" dirty="0"/>
          </a:p>
          <a:p>
            <a:pPr algn="l" indent="0" marL="0">
              <a:lnSpc>
                <a:spcPts val="2106"/>
              </a:lnSpc>
              <a:buNone/>
            </a:pPr>
            <a:r>
              <a:rPr lang="en-US" sz="1620" dirty="0">
                <a:solidFill>
                  <a:srgbClr val="E1E1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latency, and context quality.</a:t>
            </a:r>
            <a:endParaRPr lang="en-US" sz="1620" dirty="0"/>
          </a:p>
        </p:txBody>
      </p:sp>
      <p:sp>
        <p:nvSpPr>
          <p:cNvPr id="8" name="Text 4"/>
          <p:cNvSpPr/>
          <p:nvPr/>
        </p:nvSpPr>
        <p:spPr>
          <a:xfrm>
            <a:off x="548580" y="3157910"/>
            <a:ext cx="6332079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73D6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Claude, Kiro, and other large language model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73D6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tools.</a:t>
            </a:r>
            <a:endParaRPr lang="en-US" sz="1440" dirty="0"/>
          </a:p>
        </p:txBody>
      </p:sp>
      <p:sp>
        <p:nvSpPr>
          <p:cNvPr id="9" name="Shape 5"/>
          <p:cNvSpPr/>
          <p:nvPr/>
        </p:nvSpPr>
        <p:spPr>
          <a:xfrm>
            <a:off x="547613" y="4778053"/>
            <a:ext cx="1647825" cy="57150"/>
          </a:xfrm>
          <a:prstGeom prst="rect">
            <a:avLst/>
          </a:prstGeom>
          <a:solidFill>
            <a:srgbClr val="F4B9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416901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objectives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50037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448395"/>
            <a:ext cx="249679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what a token is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847220" y="150037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5024512" y="1448395"/>
            <a:ext cx="444132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 token usage without a tokenizer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193465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1882676"/>
            <a:ext cx="438928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the main sources of token waste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847220" y="193465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4512" y="1887248"/>
            <a:ext cx="399420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prompts and context without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reducing quality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59753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545556"/>
            <a:ext cx="430754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efficient multi-turn AI workflows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4621165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tokenization?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7576" y="1503573"/>
            <a:ext cx="3938587" cy="1857375"/>
          </a:xfrm>
          <a:prstGeom prst="rect">
            <a:avLst/>
          </a:prstGeom>
          <a:solidFill>
            <a:srgbClr val="E8EFEA"/>
          </a:solidFill>
          <a:ln w="4763">
            <a:solidFill>
              <a:srgbClr val="C9D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563" y="183084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55" y="1783440"/>
            <a:ext cx="345130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converts input into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model-readable units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828563" y="244230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55" y="2394901"/>
            <a:ext cx="4141343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token may be a word, part of a word,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punctuation, whitespace, or code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fragment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5034669" y="194514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3" name="Text 11"/>
          <p:cNvSpPr/>
          <p:nvPr/>
        </p:nvSpPr>
        <p:spPr>
          <a:xfrm>
            <a:off x="5211961" y="1897740"/>
            <a:ext cx="421883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 process tokens—not characters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 words directly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5034669" y="255660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5" name="Text 13"/>
          <p:cNvSpPr/>
          <p:nvPr/>
        </p:nvSpPr>
        <p:spPr>
          <a:xfrm>
            <a:off x="5211961" y="2509201"/>
            <a:ext cx="427561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models can tokenize the same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differently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924128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Words, characters, and tokens are different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8246" y="1401589"/>
            <a:ext cx="3614738" cy="300037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8" name="Text 6"/>
          <p:cNvSpPr/>
          <p:nvPr/>
        </p:nvSpPr>
        <p:spPr>
          <a:xfrm>
            <a:off x="822871" y="1690315"/>
            <a:ext cx="24816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73D6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EXERCISE ESTIMATE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822871" y="2152278"/>
            <a:ext cx="3680966" cy="1406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3960" b="1" spc="-99" kern="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characters ÷</a:t>
            </a:r>
            <a:endParaRPr lang="en-US" sz="3960" dirty="0"/>
          </a:p>
          <a:p>
            <a:pPr algn="l" indent="0" marL="0">
              <a:lnSpc>
                <a:spcPts val="5940"/>
              </a:lnSpc>
              <a:buNone/>
            </a:pPr>
            <a:r>
              <a:rPr lang="en-US" sz="3960" b="1" spc="-99" kern="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3960" dirty="0"/>
          </a:p>
        </p:txBody>
      </p:sp>
      <p:sp>
        <p:nvSpPr>
          <p:cNvPr id="10" name="Text 8"/>
          <p:cNvSpPr/>
          <p:nvPr/>
        </p:nvSpPr>
        <p:spPr>
          <a:xfrm>
            <a:off x="822871" y="3725689"/>
            <a:ext cx="350925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FC4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rough comparison heuristic—not an exact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BFC4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tokenizer.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620778" y="144895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4798070" y="1401547"/>
            <a:ext cx="434720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“tokenization” may be split into multiple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subword tokens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620778" y="222978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4798070" y="2182374"/>
            <a:ext cx="410235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words are often represented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efficiently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620778" y="301060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8070" y="2963201"/>
            <a:ext cx="483756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IDs, URLs, hashes, and unfamiliar names can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many tokens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620778" y="3791508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4798070" y="3744102"/>
            <a:ext cx="414685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code and structured data have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model-specific token patterns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798465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consumes the context window?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7650" y="1504578"/>
            <a:ext cx="2562225" cy="1681162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8" name="Text 6"/>
          <p:cNvSpPr/>
          <p:nvPr/>
        </p:nvSpPr>
        <p:spPr>
          <a:xfrm>
            <a:off x="749722" y="1734294"/>
            <a:ext cx="51365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9722" y="2261741"/>
            <a:ext cx="14255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Instructions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49722" y="2582763"/>
            <a:ext cx="2309314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System, developer, and user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90850" y="1504578"/>
            <a:ext cx="2562225" cy="1681162"/>
          </a:xfrm>
          <a:prstGeom prst="rect">
            <a:avLst/>
          </a:prstGeom>
          <a:solidFill>
            <a:srgbClr val="F1E8D5"/>
          </a:solidFill>
          <a:ln/>
        </p:spPr>
      </p:sp>
      <p:sp>
        <p:nvSpPr>
          <p:cNvPr id="12" name="Text 10"/>
          <p:cNvSpPr/>
          <p:nvPr/>
        </p:nvSpPr>
        <p:spPr>
          <a:xfrm>
            <a:off x="3492922" y="1734294"/>
            <a:ext cx="51365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B879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492922" y="2261741"/>
            <a:ext cx="10723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492922" y="2582763"/>
            <a:ext cx="271793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Files, retrieved documents, tools,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results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34050" y="1504578"/>
            <a:ext cx="2562225" cy="1681162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122" y="1734294"/>
            <a:ext cx="51365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236122" y="2261741"/>
            <a:ext cx="15297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Conversation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236122" y="2582763"/>
            <a:ext cx="26958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 and generated responses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48580" y="3461965"/>
            <a:ext cx="543908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80" b="1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Repeated context consumes capacity again.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625584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token efficiency matters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7911" y="1452488"/>
            <a:ext cx="3143250" cy="23622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8" name="Text 6"/>
          <p:cNvSpPr/>
          <p:nvPr/>
        </p:nvSpPr>
        <p:spPr>
          <a:xfrm>
            <a:off x="795412" y="1738089"/>
            <a:ext cx="115232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</a:t>
            </a:r>
            <a:endParaRPr lang="en-US" sz="3170" dirty="0"/>
          </a:p>
        </p:txBody>
      </p:sp>
      <p:sp>
        <p:nvSpPr>
          <p:cNvPr id="9" name="Text 7"/>
          <p:cNvSpPr/>
          <p:nvPr/>
        </p:nvSpPr>
        <p:spPr>
          <a:xfrm>
            <a:off x="795412" y="2420615"/>
            <a:ext cx="3253576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services charge by input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output tokens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818632" y="1454162"/>
            <a:ext cx="2324100" cy="1114425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11" name="Text 9"/>
          <p:cNvSpPr/>
          <p:nvPr/>
        </p:nvSpPr>
        <p:spPr>
          <a:xfrm>
            <a:off x="4001319" y="1655043"/>
            <a:ext cx="97693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Latency</a:t>
            </a:r>
            <a:endParaRPr lang="en-US" sz="1510" dirty="0"/>
          </a:p>
        </p:txBody>
      </p:sp>
      <p:sp>
        <p:nvSpPr>
          <p:cNvPr id="12" name="Text 10"/>
          <p:cNvSpPr/>
          <p:nvPr/>
        </p:nvSpPr>
        <p:spPr>
          <a:xfrm>
            <a:off x="4001319" y="1984921"/>
            <a:ext cx="22380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requests take longer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71059" y="1454162"/>
            <a:ext cx="2324100" cy="1114425"/>
          </a:xfrm>
          <a:prstGeom prst="rect">
            <a:avLst/>
          </a:prstGeom>
          <a:solidFill>
            <a:srgbClr val="F1E8D5"/>
          </a:solidFill>
          <a:ln/>
        </p:spPr>
      </p:sp>
      <p:sp>
        <p:nvSpPr>
          <p:cNvPr id="14" name="Text 12"/>
          <p:cNvSpPr/>
          <p:nvPr/>
        </p:nvSpPr>
        <p:spPr>
          <a:xfrm>
            <a:off x="6453708" y="1655043"/>
            <a:ext cx="108470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Capacity</a:t>
            </a:r>
            <a:endParaRPr lang="en-US" sz="1510" dirty="0"/>
          </a:p>
        </p:txBody>
      </p:sp>
      <p:sp>
        <p:nvSpPr>
          <p:cNvPr id="15" name="Text 13"/>
          <p:cNvSpPr/>
          <p:nvPr/>
        </p:nvSpPr>
        <p:spPr>
          <a:xfrm>
            <a:off x="6453708" y="1984921"/>
            <a:ext cx="184526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Noise displaces useful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818632" y="2698589"/>
            <a:ext cx="2324100" cy="1114425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4001319" y="2899470"/>
            <a:ext cx="9020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1510" dirty="0"/>
          </a:p>
        </p:txBody>
      </p:sp>
      <p:sp>
        <p:nvSpPr>
          <p:cNvPr id="18" name="Text 16"/>
          <p:cNvSpPr/>
          <p:nvPr/>
        </p:nvSpPr>
        <p:spPr>
          <a:xfrm>
            <a:off x="4001319" y="3229347"/>
            <a:ext cx="172685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Excess context hides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71059" y="2698589"/>
            <a:ext cx="2324100" cy="1114425"/>
          </a:xfrm>
          <a:prstGeom prst="rect">
            <a:avLst/>
          </a:prstGeom>
          <a:solidFill>
            <a:srgbClr val="DDEDE8"/>
          </a:solidFill>
          <a:ln/>
        </p:spPr>
      </p:sp>
      <p:sp>
        <p:nvSpPr>
          <p:cNvPr id="20" name="Text 18"/>
          <p:cNvSpPr/>
          <p:nvPr/>
        </p:nvSpPr>
        <p:spPr>
          <a:xfrm>
            <a:off x="6453708" y="2899470"/>
            <a:ext cx="124993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Reliability</a:t>
            </a:r>
            <a:endParaRPr lang="en-US" sz="1510" dirty="0"/>
          </a:p>
        </p:txBody>
      </p:sp>
      <p:sp>
        <p:nvSpPr>
          <p:cNvPr id="21" name="Text 19"/>
          <p:cNvSpPr/>
          <p:nvPr/>
        </p:nvSpPr>
        <p:spPr>
          <a:xfrm>
            <a:off x="6453708" y="3229347"/>
            <a:ext cx="2279712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Bounded tasks are easier to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6170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570434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before optimizing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50037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448395"/>
            <a:ext cx="59933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input size, output size, latency, and task success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549511" y="186783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726802" y="1815852"/>
            <a:ext cx="541364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model provider’s tokenizer when available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223528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2183309"/>
            <a:ext cx="59958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characters ÷ 4 only as a rough comparison heuristic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549511" y="260274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726802" y="2550765"/>
            <a:ext cx="51712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equivalent tasks and quality outcomes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97020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918222"/>
            <a:ext cx="50481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 repeated high-volume workflows first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895504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waste pattern 1: repetitive prompts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48" y="1454162"/>
            <a:ext cx="3838575" cy="2657475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8" name="Text 6"/>
          <p:cNvSpPr/>
          <p:nvPr/>
        </p:nvSpPr>
        <p:spPr>
          <a:xfrm>
            <a:off x="777180" y="1753195"/>
            <a:ext cx="112040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Before:</a:t>
            </a:r>
            <a:endParaRPr lang="en-US" sz="1870" dirty="0"/>
          </a:p>
        </p:txBody>
      </p:sp>
      <p:sp>
        <p:nvSpPr>
          <p:cNvPr id="9" name="Shape 7"/>
          <p:cNvSpPr/>
          <p:nvPr/>
        </p:nvSpPr>
        <p:spPr>
          <a:xfrm>
            <a:off x="778111" y="229221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955402" y="2244807"/>
            <a:ext cx="338697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greetings and background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narrative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778111" y="288313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955402" y="2835729"/>
            <a:ext cx="367545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objective stated several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778111" y="3474058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955402" y="3426651"/>
            <a:ext cx="337604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 scattered across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755840" y="1454162"/>
            <a:ext cx="3838575" cy="2657475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35" y="1753195"/>
            <a:ext cx="897902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After:</a:t>
            </a:r>
            <a:endParaRPr lang="en-US" sz="1870" dirty="0"/>
          </a:p>
        </p:txBody>
      </p:sp>
      <p:sp>
        <p:nvSpPr>
          <p:cNvPr id="17" name="Shape 15"/>
          <p:cNvSpPr/>
          <p:nvPr/>
        </p:nvSpPr>
        <p:spPr>
          <a:xfrm>
            <a:off x="4984366" y="229221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1657" y="2244807"/>
            <a:ext cx="333532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Goal, constraints, process, and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 output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4984366" y="288313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20" name="Text 18"/>
          <p:cNvSpPr/>
          <p:nvPr/>
        </p:nvSpPr>
        <p:spPr>
          <a:xfrm>
            <a:off x="5161657" y="2831157"/>
            <a:ext cx="40153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clear statement per requirement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548" y="1454162"/>
            <a:ext cx="3838575" cy="2657475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5840" y="1454162"/>
            <a:ext cx="3838575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740171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Technique 1: compress the prompt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8878" y="1401291"/>
            <a:ext cx="3071813" cy="2690812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8" name="Text 6"/>
          <p:cNvSpPr/>
          <p:nvPr/>
        </p:nvSpPr>
        <p:spPr>
          <a:xfrm>
            <a:off x="795412" y="1662857"/>
            <a:ext cx="6276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73D6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GOAL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795412" y="2044824"/>
            <a:ext cx="3241291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CSV export to the</a:t>
            </a:r>
            <a:endParaRPr lang="en-US" sz="1870" dirty="0"/>
          </a:p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table.</a:t>
            </a:r>
            <a:endParaRPr lang="en-US" sz="1870" dirty="0"/>
          </a:p>
        </p:txBody>
      </p:sp>
      <p:sp>
        <p:nvSpPr>
          <p:cNvPr id="10" name="Text 8"/>
          <p:cNvSpPr/>
          <p:nvPr/>
        </p:nvSpPr>
        <p:spPr>
          <a:xfrm>
            <a:off x="795412" y="2958926"/>
            <a:ext cx="91289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440" dirty="0">
                <a:solidFill>
                  <a:srgbClr val="73D6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95412" y="3310384"/>
            <a:ext cx="3164190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changed files and verification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steps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3986733" y="1420788"/>
            <a:ext cx="195476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Requirements: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3987664" y="189298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4164955" y="1841004"/>
            <a:ext cx="33522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 filtered and sorted rows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3987664" y="222955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4164955" y="2177579"/>
            <a:ext cx="321749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Preserve visible column order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3987664" y="256613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4164955" y="2514154"/>
            <a:ext cx="26579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Exclude hidden columns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3987664" y="290270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20" name="Text 18"/>
          <p:cNvSpPr/>
          <p:nvPr/>
        </p:nvSpPr>
        <p:spPr>
          <a:xfrm>
            <a:off x="4164955" y="2850728"/>
            <a:ext cx="219825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ISO 8601 dates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3987664" y="3239281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22" name="Text 20"/>
          <p:cNvSpPr/>
          <p:nvPr/>
        </p:nvSpPr>
        <p:spPr>
          <a:xfrm>
            <a:off x="4164955" y="3187303"/>
            <a:ext cx="21788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no dependency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916235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waste pattern 2: repository dumping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50037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448395"/>
            <a:ext cx="70049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Sending the entire repository rarely improves a focused diagnosis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549511" y="186522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726802" y="1813247"/>
            <a:ext cx="7114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files, assets, old logs, and unrelated modules add noise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2230078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2178100"/>
            <a:ext cx="515912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context is not automatically better context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549511" y="259493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726802" y="2542952"/>
            <a:ext cx="60930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the failing request, data flow, or dependency path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95978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907804"/>
            <a:ext cx="46176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Sanitize secrets before sharing any context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783297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Technique 2: select bounded context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48" y="1402259"/>
            <a:ext cx="3838575" cy="2190750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8" name="Text 6"/>
          <p:cNvSpPr/>
          <p:nvPr/>
        </p:nvSpPr>
        <p:spPr>
          <a:xfrm>
            <a:off x="777180" y="1654150"/>
            <a:ext cx="12292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8111" y="2149041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955402" y="2097063"/>
            <a:ext cx="37520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error and reproduction steps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778111" y="2501019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955402" y="2449041"/>
            <a:ext cx="33581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Relevant client and server path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778111" y="2852998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955402" y="2805592"/>
            <a:ext cx="392716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Configuration, versions, and focused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diffs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4755840" y="1402259"/>
            <a:ext cx="3838575" cy="219075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35" y="1654150"/>
            <a:ext cx="126579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144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Exclude: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84366" y="2149041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1657" y="2101635"/>
            <a:ext cx="356023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Unrelated modules, full lockfiles,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assets, and historical logs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983435" y="2830488"/>
            <a:ext cx="4250948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for ranked hypotheses, a minimal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fix, and verification</a:t>
            </a:r>
            <a:endParaRPr lang="en-US" sz="1440" dirty="0"/>
          </a:p>
        </p:txBody>
      </p:sp>
      <p:sp>
        <p:nvSpPr>
          <p:cNvPr id="20" name="Shape 18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798611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waste pattern 3: one giant task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500374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448395"/>
            <a:ext cx="528798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one-shot requests mix unrelated outcomes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549511" y="186783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726802" y="1815852"/>
            <a:ext cx="43607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 and risks become unclear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2235287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2183309"/>
            <a:ext cx="552489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may repeat analysis or change too much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549511" y="260274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726802" y="2550765"/>
            <a:ext cx="61260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are discovered after later work depends on them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970200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918222"/>
            <a:ext cx="455567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Verification becomes broad and expensive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693862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Technique 3: stage the workflow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176" y="1402854"/>
            <a:ext cx="1914525" cy="857250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8" name="Text 6"/>
          <p:cNvSpPr/>
          <p:nvPr/>
        </p:nvSpPr>
        <p:spPr>
          <a:xfrm>
            <a:off x="703957" y="1571402"/>
            <a:ext cx="1626148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Discovery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scope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2592884" y="1402854"/>
            <a:ext cx="1914525" cy="857250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10" name="Text 8"/>
          <p:cNvSpPr/>
          <p:nvPr/>
        </p:nvSpPr>
        <p:spPr>
          <a:xfrm>
            <a:off x="2747665" y="1571402"/>
            <a:ext cx="1617829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636591" y="1402854"/>
            <a:ext cx="1914525" cy="857250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373" y="1571402"/>
            <a:ext cx="172008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Authentication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680299" y="1402854"/>
            <a:ext cx="1914525" cy="857250"/>
          </a:xfrm>
          <a:prstGeom prst="rect">
            <a:avLst/>
          </a:prstGeom>
          <a:solidFill>
            <a:srgbClr val="E8EFEA"/>
          </a:solidFill>
          <a:ln/>
        </p:spPr>
      </p:sp>
      <p:sp>
        <p:nvSpPr>
          <p:cNvPr id="14" name="Text 12"/>
          <p:cNvSpPr/>
          <p:nvPr/>
        </p:nvSpPr>
        <p:spPr>
          <a:xfrm>
            <a:off x="6835080" y="1571402"/>
            <a:ext cx="1835103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feature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176" y="2389398"/>
            <a:ext cx="1914525" cy="1133475"/>
          </a:xfrm>
          <a:prstGeom prst="rect">
            <a:avLst/>
          </a:prstGeom>
          <a:solidFill>
            <a:srgbClr val="F1E8D5"/>
          </a:solidFill>
          <a:ln/>
        </p:spPr>
      </p:sp>
      <p:sp>
        <p:nvSpPr>
          <p:cNvPr id="16" name="Text 14"/>
          <p:cNvSpPr/>
          <p:nvPr/>
        </p:nvSpPr>
        <p:spPr>
          <a:xfrm>
            <a:off x="703957" y="2558876"/>
            <a:ext cx="1402779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High-risk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2592884" y="2389398"/>
            <a:ext cx="1914525" cy="1133475"/>
          </a:xfrm>
          <a:prstGeom prst="rect">
            <a:avLst/>
          </a:prstGeom>
          <a:solidFill>
            <a:srgbClr val="F1E8D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7665" y="2558876"/>
            <a:ext cx="1950802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Accessibility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4636591" y="2389398"/>
            <a:ext cx="1914525" cy="1133475"/>
          </a:xfrm>
          <a:prstGeom prst="rect">
            <a:avLst/>
          </a:prstGeom>
          <a:solidFill>
            <a:srgbClr val="F1E8D5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373" y="2558876"/>
            <a:ext cx="1325969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verification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6680299" y="2389398"/>
            <a:ext cx="1914525" cy="1133475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22" name="Text 20"/>
          <p:cNvSpPr/>
          <p:nvPr/>
        </p:nvSpPr>
        <p:spPr>
          <a:xfrm>
            <a:off x="6835080" y="2558876"/>
            <a:ext cx="1967731" cy="7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stage has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outcome and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7F4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pass/fail gate.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661291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a compact context handoff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44895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396975"/>
            <a:ext cx="43289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one reusable project contract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847220" y="144895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5024512" y="1396975"/>
            <a:ext cx="462097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 only current-stage files and contracts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184208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1794677"/>
            <a:ext cx="4442006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Carry approved decisions and unresolved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items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847220" y="184208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4512" y="1790105"/>
            <a:ext cx="408765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Include required verification evidence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46381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411834"/>
            <a:ext cx="37772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not resend the full conversation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847220" y="246381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4512" y="2411834"/>
            <a:ext cx="435291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when the current stage is complete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404537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safeguards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548580" y="1369293"/>
            <a:ext cx="424998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10" b="1" dirty="0">
                <a:solidFill>
                  <a:srgbClr val="A144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optimize tokens by removing:</a:t>
            </a:r>
            <a:endParaRPr lang="en-US" sz="1510" dirty="0"/>
          </a:p>
        </p:txBody>
      </p:sp>
      <p:sp>
        <p:nvSpPr>
          <p:cNvPr id="8" name="Shape 6"/>
          <p:cNvSpPr/>
          <p:nvPr/>
        </p:nvSpPr>
        <p:spPr>
          <a:xfrm>
            <a:off x="549659" y="1793230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9" name="Text 7"/>
          <p:cNvSpPr/>
          <p:nvPr/>
        </p:nvSpPr>
        <p:spPr>
          <a:xfrm>
            <a:off x="713110" y="1971303"/>
            <a:ext cx="2338529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and privacy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3283707" y="1793230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1" name="Text 9"/>
          <p:cNvSpPr/>
          <p:nvPr/>
        </p:nvSpPr>
        <p:spPr>
          <a:xfrm>
            <a:off x="3447157" y="1971303"/>
            <a:ext cx="222921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Acceptance criteria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6017754" y="1793230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3" name="Text 11"/>
          <p:cNvSpPr/>
          <p:nvPr/>
        </p:nvSpPr>
        <p:spPr>
          <a:xfrm>
            <a:off x="6181204" y="1971303"/>
            <a:ext cx="24918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Important edge cases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549659" y="2826395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5" name="Text 13"/>
          <p:cNvSpPr/>
          <p:nvPr/>
        </p:nvSpPr>
        <p:spPr>
          <a:xfrm>
            <a:off x="713110" y="3004468"/>
            <a:ext cx="165449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handling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3283707" y="2826395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157" y="3004468"/>
            <a:ext cx="26662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and verification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6017754" y="2826395"/>
            <a:ext cx="2576512" cy="876300"/>
          </a:xfrm>
          <a:prstGeom prst="rect">
            <a:avLst/>
          </a:prstGeom>
          <a:solidFill>
            <a:srgbClr val="F4E8E3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204" y="3004468"/>
            <a:ext cx="2479670" cy="512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required to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diagnose the problem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548580" y="3928170"/>
            <a:ext cx="8076076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760" b="1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goal is minimum sufficient context—not minimum text.</a:t>
            </a:r>
            <a:endParaRPr lang="en-US" sz="1760" dirty="0"/>
          </a:p>
        </p:txBody>
      </p:sp>
      <p:sp>
        <p:nvSpPr>
          <p:cNvPr id="21" name="Shape 19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112"/>
            <a:ext cx="9144000" cy="61912"/>
          </a:xfrm>
          <a:prstGeom prst="rect">
            <a:avLst/>
          </a:prstGeom>
          <a:solidFill>
            <a:srgbClr val="0F8B6D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18120"/>
            <a:ext cx="36587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62" kern="0" dirty="0">
                <a:solidFill>
                  <a:srgbClr val="0F8B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 FOR DEVELOPERS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8019380" y="31812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61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16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719137"/>
            <a:ext cx="428219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spc="-72" kern="0" dirty="0">
                <a:solidFill>
                  <a:srgbClr val="1732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Developer playbook</a:t>
            </a:r>
            <a:endParaRPr lang="en-US" sz="2880" dirty="0"/>
          </a:p>
        </p:txBody>
      </p:sp>
      <p:sp>
        <p:nvSpPr>
          <p:cNvPr id="7" name="Shape 5"/>
          <p:cNvSpPr/>
          <p:nvPr/>
        </p:nvSpPr>
        <p:spPr>
          <a:xfrm>
            <a:off x="549511" y="142320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8" name="Text 6"/>
          <p:cNvSpPr/>
          <p:nvPr/>
        </p:nvSpPr>
        <p:spPr>
          <a:xfrm>
            <a:off x="726802" y="1371228"/>
            <a:ext cx="30863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the current request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4801530" y="1423206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0" name="Text 8"/>
          <p:cNvSpPr/>
          <p:nvPr/>
        </p:nvSpPr>
        <p:spPr>
          <a:xfrm>
            <a:off x="4978822" y="1371228"/>
            <a:ext cx="43322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repetition and irrelevant history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9511" y="1775185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2" name="Text 10"/>
          <p:cNvSpPr/>
          <p:nvPr/>
        </p:nvSpPr>
        <p:spPr>
          <a:xfrm>
            <a:off x="726802" y="1727778"/>
            <a:ext cx="4252399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the prompt: goal, constraints,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context, output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4801530" y="1775185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4" name="Text 12"/>
          <p:cNvSpPr/>
          <p:nvPr/>
        </p:nvSpPr>
        <p:spPr>
          <a:xfrm>
            <a:off x="4978822" y="1723206"/>
            <a:ext cx="422744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Retrieve only the evidence needed now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549511" y="235576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6" name="Text 14"/>
          <p:cNvSpPr/>
          <p:nvPr/>
        </p:nvSpPr>
        <p:spPr>
          <a:xfrm>
            <a:off x="726802" y="2303785"/>
            <a:ext cx="465067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stable rules once and reference them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4801530" y="2355763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18" name="Text 16"/>
          <p:cNvSpPr/>
          <p:nvPr/>
        </p:nvSpPr>
        <p:spPr>
          <a:xfrm>
            <a:off x="4978822" y="2308357"/>
            <a:ext cx="428490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Decompose large tasks with verification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gates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49511" y="2936342"/>
            <a:ext cx="66675" cy="66675"/>
          </a:xfrm>
          <a:prstGeom prst="ellipse">
            <a:avLst/>
          </a:prstGeom>
          <a:solidFill>
            <a:srgbClr val="0F8B6D"/>
          </a:solidFill>
          <a:ln/>
        </p:spPr>
      </p:sp>
      <p:sp>
        <p:nvSpPr>
          <p:cNvPr id="20" name="Text 18"/>
          <p:cNvSpPr/>
          <p:nvPr/>
        </p:nvSpPr>
        <p:spPr>
          <a:xfrm>
            <a:off x="726802" y="2888935"/>
            <a:ext cx="398095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token reduction and output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203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together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549511" y="3551709"/>
            <a:ext cx="2924175" cy="5715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7688" y="4958730"/>
            <a:ext cx="8048625" cy="4763"/>
          </a:xfrm>
          <a:prstGeom prst="rect">
            <a:avLst/>
          </a:prstGeom>
          <a:solidFill>
            <a:srgbClr val="D9D4C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2026-09-10T12:20:57Z</dcterms:created>
  <dcterms:modified xsi:type="dcterms:W3CDTF">2026-09-10T12:20:57Z</dcterms:modified>
</cp:coreProperties>
</file>